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8" r:id="rId4"/>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53">
          <p15:clr>
            <a:srgbClr val="A4A3A4"/>
          </p15:clr>
        </p15:guide>
        <p15:guide id="2" orient="horz" pos="265">
          <p15:clr>
            <a:srgbClr val="A4A3A4"/>
          </p15:clr>
        </p15:guide>
        <p15:guide id="3" orient="horz" pos="18541">
          <p15:clr>
            <a:srgbClr val="A4A3A4"/>
          </p15:clr>
        </p15:guide>
        <p15:guide id="4" orient="horz">
          <p15:clr>
            <a:srgbClr val="A4A3A4"/>
          </p15:clr>
        </p15:guide>
        <p15:guide id="5" pos="1319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90" autoAdjust="0"/>
    <p:restoredTop sz="94762" autoAdjust="0"/>
  </p:normalViewPr>
  <p:slideViewPr>
    <p:cSldViewPr snapToGrid="0" snapToObjects="1" showGuides="1">
      <p:cViewPr>
        <p:scale>
          <a:sx n="50" d="100"/>
          <a:sy n="50" d="100"/>
        </p:scale>
        <p:origin x="1608" y="-1722"/>
      </p:cViewPr>
      <p:guideLst>
        <p:guide orient="horz" pos="3053"/>
        <p:guide orient="horz" pos="265"/>
        <p:guide orient="horz" pos="18541"/>
        <p:guide orient="horz"/>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5/17/2026</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416457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404020"/>
            <a:ext cx="4900732"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449463" y="4842926"/>
            <a:ext cx="4896865" cy="553829"/>
          </a:xfrm>
          <a:prstGeom prst="rect">
            <a:avLst/>
          </a:prstGeom>
          <a:noFill/>
        </p:spPr>
        <p:txBody>
          <a:bodyPr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ABSTRACT</a:t>
            </a:r>
          </a:p>
        </p:txBody>
      </p:sp>
      <p:sp>
        <p:nvSpPr>
          <p:cNvPr id="19" name="Text Placeholder 3"/>
          <p:cNvSpPr>
            <a:spLocks noGrp="1"/>
          </p:cNvSpPr>
          <p:nvPr>
            <p:ph type="body" sz="quarter" idx="19" hasCustomPrompt="1"/>
          </p:nvPr>
        </p:nvSpPr>
        <p:spPr>
          <a:xfrm>
            <a:off x="439841" y="13602881"/>
            <a:ext cx="4901505"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449461" y="13071318"/>
            <a:ext cx="489763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5646479" y="5396720"/>
            <a:ext cx="1009697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5646481" y="4842926"/>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5646481" y="19943639"/>
            <a:ext cx="10096977"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5646481" y="19382548"/>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6044385" y="4842926"/>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6044385" y="5404020"/>
            <a:ext cx="4895959"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6041612" y="13126708"/>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6073011" y="13687799"/>
            <a:ext cx="4860425" cy="634878"/>
          </a:xfrm>
          <a:prstGeom prst="rect">
            <a:avLst/>
          </a:prstGeom>
        </p:spPr>
        <p:txBody>
          <a:bodyPr wrap="square" lIns="158267" tIns="158267" rIns="158267" bIns="158267" anchor="t" anchorCtr="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6044385" y="24050024"/>
            <a:ext cx="4895959" cy="553829"/>
          </a:xfrm>
          <a:prstGeom prst="rect">
            <a:avLst/>
          </a:prstGeom>
          <a:noFill/>
        </p:spPr>
        <p:txBody>
          <a:bodyPr wrap="square" lIns="63307" tIns="63307" rIns="63307" bIns="63307" anchor="t" anchorCtr="0">
            <a:spAutoFit/>
          </a:bodyPr>
          <a:lstStyle>
            <a:lvl1pPr marL="0" indent="0" algn="ctr">
              <a:buNone/>
              <a:defRPr sz="28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6035023" y="24659708"/>
            <a:ext cx="4898411" cy="634878"/>
          </a:xfrm>
          <a:prstGeom prst="rect">
            <a:avLst/>
          </a:prstGeom>
        </p:spPr>
        <p:txBody>
          <a:bodyPr wrap="square" lIns="158267" tIns="158267" rIns="158267" bIns="158267" anchor="t" anchorCtr="0">
            <a:spAutoFit/>
          </a:bodyPr>
          <a:lstStyle>
            <a:lvl1pPr marL="47625" indent="-47625">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2890078" y="3554249"/>
            <a:ext cx="15608232" cy="716936"/>
          </a:xfrm>
          <a:prstGeom prst="rect">
            <a:avLst/>
          </a:prstGeom>
        </p:spPr>
        <p:txBody>
          <a:bodyPr lIns="54681" tIns="27341" rIns="54681" bIns="27341" anchor="t" anchorCtr="0">
            <a:sp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85" name="Text Placeholder 76"/>
          <p:cNvSpPr>
            <a:spLocks noGrp="1"/>
          </p:cNvSpPr>
          <p:nvPr>
            <p:ph type="body" sz="quarter" idx="151" hasCustomPrompt="1"/>
          </p:nvPr>
        </p:nvSpPr>
        <p:spPr>
          <a:xfrm>
            <a:off x="2890078" y="2235565"/>
            <a:ext cx="15608232" cy="1117045"/>
          </a:xfrm>
          <a:prstGeom prst="rect">
            <a:avLst/>
          </a:prstGeom>
        </p:spPr>
        <p:txBody>
          <a:bodyPr lIns="54681" tIns="27341" rIns="54681" bIns="27341" anchor="t" anchorCtr="0">
            <a:sp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6" name="Text Placeholder 76"/>
          <p:cNvSpPr>
            <a:spLocks noGrp="1"/>
          </p:cNvSpPr>
          <p:nvPr>
            <p:ph type="body" sz="quarter" idx="178" hasCustomPrompt="1"/>
          </p:nvPr>
        </p:nvSpPr>
        <p:spPr>
          <a:xfrm>
            <a:off x="2890078" y="348658"/>
            <a:ext cx="15608232" cy="1286322"/>
          </a:xfrm>
          <a:prstGeom prst="rect">
            <a:avLst/>
          </a:prstGeom>
        </p:spPr>
        <p:txBody>
          <a:bodyPr lIns="54681" tIns="27341" rIns="54681" bIns="27341" anchor="t" anchorCtr="0">
            <a:spAutoFit/>
          </a:bodyPr>
          <a:lstStyle>
            <a:lvl1pPr marL="0" indent="0" algn="ctr">
              <a:buFontTx/>
              <a:buNone/>
              <a:defRPr sz="80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27772"/>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sp>
        <p:nvSpPr>
          <p:cNvPr id="65" name="Text Box 14"/>
          <p:cNvSpPr txBox="1">
            <a:spLocks noChangeArrowheads="1"/>
          </p:cNvSpPr>
          <p:nvPr userDrawn="1"/>
        </p:nvSpPr>
        <p:spPr bwMode="auto">
          <a:xfrm>
            <a:off x="1011866"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aphicFrame>
        <p:nvGraphicFramePr>
          <p:cNvPr id="64" name="Table 63">
            <a:extLst>
              <a:ext uri="{FF2B5EF4-FFF2-40B4-BE49-F238E27FC236}">
                <a16:creationId xmlns:a16="http://schemas.microsoft.com/office/drawing/2014/main" id="{C23477C7-2109-2A49-BFE0-4466A30DCDCB}"/>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1" name="Group 10">
            <a:extLst>
              <a:ext uri="{FF2B5EF4-FFF2-40B4-BE49-F238E27FC236}">
                <a16:creationId xmlns:a16="http://schemas.microsoft.com/office/drawing/2014/main" id="{15F085B7-290D-2942-8687-0EA198F73930}"/>
              </a:ext>
            </a:extLst>
          </p:cNvPr>
          <p:cNvGrpSpPr/>
          <p:nvPr userDrawn="1"/>
        </p:nvGrpSpPr>
        <p:grpSpPr>
          <a:xfrm>
            <a:off x="-268793" y="-159027"/>
            <a:ext cx="21734579" cy="30999245"/>
            <a:chOff x="-268793" y="-159027"/>
            <a:chExt cx="21734579" cy="30970331"/>
          </a:xfrm>
        </p:grpSpPr>
        <p:sp>
          <p:nvSpPr>
            <p:cNvPr id="12" name="Freeform 11">
              <a:extLst>
                <a:ext uri="{FF2B5EF4-FFF2-40B4-BE49-F238E27FC236}">
                  <a16:creationId xmlns:a16="http://schemas.microsoft.com/office/drawing/2014/main" id="{2E1D42E0-7754-2044-A36E-BA1885784C1B}"/>
                </a:ext>
              </a:extLst>
            </p:cNvPr>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12">
              <a:extLst>
                <a:ext uri="{FF2B5EF4-FFF2-40B4-BE49-F238E27FC236}">
                  <a16:creationId xmlns:a16="http://schemas.microsoft.com/office/drawing/2014/main" id="{93E56D0A-3589-EF44-812E-DC3B326CB19E}"/>
                </a:ext>
              </a:extLst>
            </p:cNvPr>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661B8A40-0A60-3F4A-A88A-74C315D0E812}"/>
                </a:ext>
              </a:extLst>
            </p:cNvPr>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14">
              <a:extLst>
                <a:ext uri="{FF2B5EF4-FFF2-40B4-BE49-F238E27FC236}">
                  <a16:creationId xmlns:a16="http://schemas.microsoft.com/office/drawing/2014/main" id="{E79AC704-A1E1-4246-91F6-9A015B7841F3}"/>
                </a:ext>
              </a:extLst>
            </p:cNvPr>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577FE178-32DB-2E4A-A12B-CE52E4C7A05D}"/>
              </a:ext>
            </a:extLst>
          </p:cNvPr>
          <p:cNvGraphicFramePr>
            <a:graphicFrameLocks noGrp="1"/>
          </p:cNvGraphicFramePr>
          <p:nvPr userDrawn="1">
            <p:extLst>
              <p:ext uri="{D42A27DB-BD31-4B8C-83A1-F6EECF244321}">
                <p14:modId xmlns:p14="http://schemas.microsoft.com/office/powerpoint/2010/main" val="3552811818"/>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171AE2E-AA4D-B743-93D8-48DC6966202F}"/>
              </a:ext>
            </a:extLst>
          </p:cNvPr>
          <p:cNvGrpSpPr/>
          <p:nvPr userDrawn="1"/>
        </p:nvGrpSpPr>
        <p:grpSpPr>
          <a:xfrm>
            <a:off x="-268793" y="-159027"/>
            <a:ext cx="21734579" cy="30999245"/>
            <a:chOff x="-268793" y="-159027"/>
            <a:chExt cx="21734579" cy="30970331"/>
          </a:xfrm>
        </p:grpSpPr>
        <p:sp>
          <p:nvSpPr>
            <p:cNvPr id="40" name="Freeform 39"/>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 Box 14"/>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spTree>
    <p:extLst>
      <p:ext uri="{BB962C8B-B14F-4D97-AF65-F5344CB8AC3E}">
        <p14:creationId xmlns:p14="http://schemas.microsoft.com/office/powerpoint/2010/main" val="230371052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7" name="Table 36">
            <a:extLst>
              <a:ext uri="{FF2B5EF4-FFF2-40B4-BE49-F238E27FC236}">
                <a16:creationId xmlns:a16="http://schemas.microsoft.com/office/drawing/2014/main" id="{5F19486D-C737-8946-B249-CE09CCD2BBE4}"/>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5" name="Group 14">
            <a:extLst>
              <a:ext uri="{FF2B5EF4-FFF2-40B4-BE49-F238E27FC236}">
                <a16:creationId xmlns:a16="http://schemas.microsoft.com/office/drawing/2014/main" id="{2F477455-85C8-024B-8952-F98630A616DF}"/>
              </a:ext>
            </a:extLst>
          </p:cNvPr>
          <p:cNvGrpSpPr/>
          <p:nvPr userDrawn="1"/>
        </p:nvGrpSpPr>
        <p:grpSpPr>
          <a:xfrm>
            <a:off x="-38100" y="-159027"/>
            <a:ext cx="21388388" cy="30999245"/>
            <a:chOff x="-268793" y="-159027"/>
            <a:chExt cx="21734579" cy="30970331"/>
          </a:xfrm>
        </p:grpSpPr>
        <p:sp>
          <p:nvSpPr>
            <p:cNvPr id="16" name="Freeform 15">
              <a:extLst>
                <a:ext uri="{FF2B5EF4-FFF2-40B4-BE49-F238E27FC236}">
                  <a16:creationId xmlns:a16="http://schemas.microsoft.com/office/drawing/2014/main" id="{052A94EC-894F-7147-AB8E-2E068BA8A153}"/>
                </a:ext>
              </a:extLst>
            </p:cNvPr>
            <p:cNvSpPr/>
            <p:nvPr userDrawn="1"/>
          </p:nvSpPr>
          <p:spPr>
            <a:xfrm>
              <a:off x="-233480" y="-142048"/>
              <a:ext cx="21699266"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16">
              <a:extLst>
                <a:ext uri="{FF2B5EF4-FFF2-40B4-BE49-F238E27FC236}">
                  <a16:creationId xmlns:a16="http://schemas.microsoft.com/office/drawing/2014/main" id="{6886BA1D-C6F1-0B46-9215-21D0D5179BDB}"/>
                </a:ext>
              </a:extLst>
            </p:cNvPr>
            <p:cNvSpPr/>
            <p:nvPr userDrawn="1"/>
          </p:nvSpPr>
          <p:spPr>
            <a:xfrm flipH="1" flipV="1">
              <a:off x="-233481" y="-142048"/>
              <a:ext cx="21699264" cy="3041726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EA079F7F-CAD0-A348-8EF6-B7462979F338}"/>
                </a:ext>
              </a:extLst>
            </p:cNvPr>
            <p:cNvSpPr/>
            <p:nvPr userDrawn="1"/>
          </p:nvSpPr>
          <p:spPr>
            <a:xfrm>
              <a:off x="-268793" y="-159027"/>
              <a:ext cx="21734578" cy="3097033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Box 14">
              <a:extLst>
                <a:ext uri="{FF2B5EF4-FFF2-40B4-BE49-F238E27FC236}">
                  <a16:creationId xmlns:a16="http://schemas.microsoft.com/office/drawing/2014/main" id="{95BF47B3-6D9A-514F-9327-ADE9C35C2943}"/>
                </a:ext>
              </a:extLst>
            </p:cNvPr>
            <p:cNvSpPr txBox="1">
              <a:spLocks noChangeArrowheads="1"/>
            </p:cNvSpPr>
            <p:nvPr userDrawn="1"/>
          </p:nvSpPr>
          <p:spPr bwMode="auto">
            <a:xfrm>
              <a:off x="614852" y="29556350"/>
              <a:ext cx="1862933" cy="258718"/>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800" b="1" dirty="0">
                  <a:solidFill>
                    <a:schemeClr val="bg1">
                      <a:lumMod val="75000"/>
                    </a:schemeClr>
                  </a:solidFill>
                  <a:latin typeface="Arial" charset="0"/>
                </a:rPr>
                <a:t>www.PosterPresentations.com</a:t>
              </a:r>
            </a:p>
          </p:txBody>
        </p:sp>
      </p:grpSp>
      <p:graphicFrame>
        <p:nvGraphicFramePr>
          <p:cNvPr id="9" name="Table 8">
            <a:extLst>
              <a:ext uri="{FF2B5EF4-FFF2-40B4-BE49-F238E27FC236}">
                <a16:creationId xmlns:a16="http://schemas.microsoft.com/office/drawing/2014/main" id="{11C3DB60-464F-D24C-81AF-3C43DD33A5F1}"/>
              </a:ext>
            </a:extLst>
          </p:cNvPr>
          <p:cNvGraphicFramePr>
            <a:graphicFrameLocks noGrp="1"/>
          </p:cNvGraphicFramePr>
          <p:nvPr userDrawn="1">
            <p:extLst>
              <p:ext uri="{D42A27DB-BD31-4B8C-83A1-F6EECF244321}">
                <p14:modId xmlns:p14="http://schemas.microsoft.com/office/powerpoint/2010/main" val="1681874454"/>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eeksforgeeks.org/dsa/hash-table-data-structure/" TargetMode="External"/><Relationship Id="rId2" Type="http://schemas.openxmlformats.org/officeDocument/2006/relationships/hyperlink" Target="https://www.geeksforgeeks.org/c/c-program-for-binary-search-tree/" TargetMode="External"/><Relationship Id="rId1" Type="http://schemas.openxmlformats.org/officeDocument/2006/relationships/slideLayout" Target="../slideLayouts/slideLayout1.xml"/><Relationship Id="rId5" Type="http://schemas.openxmlformats.org/officeDocument/2006/relationships/hyperlink" Target="https://github.com/Ben-Dolliver/KIT205-618797" TargetMode="External"/><Relationship Id="rId4" Type="http://schemas.openxmlformats.org/officeDocument/2006/relationships/hyperlink" Target="https://www.youtube.com/watch?v=2Ti5yvumFTU&amp;t=354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DE3C5F-2D7A-3CDD-27B9-5BE300E77FAC}"/>
              </a:ext>
            </a:extLst>
          </p:cNvPr>
          <p:cNvSpPr>
            <a:spLocks noGrp="1"/>
          </p:cNvSpPr>
          <p:nvPr>
            <p:ph type="body" sz="quarter" idx="10"/>
          </p:nvPr>
        </p:nvSpPr>
        <p:spPr>
          <a:xfrm>
            <a:off x="440616" y="5365571"/>
            <a:ext cx="10101856" cy="7336931"/>
          </a:xfrm>
        </p:spPr>
        <p:txBody>
          <a:bodyPr/>
          <a:lstStyle/>
          <a:p>
            <a:r>
              <a:rPr lang="en-US" dirty="0"/>
              <a:t>The Problem domain that I have decided is academic papers &amp; authors. In the space of academic tracking papers and authors can become very complicated very quickly. Moreover, traditionally this Is tracked by name which can become very confusing trying to figure out if the </a:t>
            </a:r>
            <a:r>
              <a:rPr lang="en-US" dirty="0" err="1"/>
              <a:t>J.Smith</a:t>
            </a:r>
            <a:r>
              <a:rPr lang="en-US" dirty="0"/>
              <a:t> is the same </a:t>
            </a:r>
            <a:r>
              <a:rPr lang="en-US" dirty="0" err="1"/>
              <a:t>J.Smith</a:t>
            </a:r>
            <a:r>
              <a:rPr lang="en-US" dirty="0"/>
              <a:t> on 2 different papers. This problem domain is a many-many relationship since each author can have written many papers and a paper can be written by many authors. My program’s goal is to create a database of linked Papers and Authors.  Within this program you are able to add new papers, authors, add authorship to a paper/author print all the papers an author has written, print all the authors of a specific paper and find specific papers/authors. </a:t>
            </a:r>
          </a:p>
          <a:p>
            <a:endParaRPr lang="en-US" dirty="0"/>
          </a:p>
          <a:p>
            <a:r>
              <a:rPr lang="en-US" dirty="0"/>
              <a:t>This project is particularly interesting for me because it could be expanded into many different usable applications that have not been done before. I take specific inspiration for google/google scholar, Initially I was inspired to design the program by the idea of how the internet was originally for research papers and through incremental development slowly transformed into what we have today </a:t>
            </a:r>
          </a:p>
          <a:p>
            <a:endParaRPr lang="en-US" dirty="0"/>
          </a:p>
          <a:p>
            <a:r>
              <a:rPr lang="en-US" dirty="0"/>
              <a:t>If I were to continue this project further I would love to include a referencing structure for a chosen papers links to other papers. Eventually this could be made into a directed graph of interlinked papers and authors which would be super interesting to see. Furthermore alternative variables could be introduced like date and topic eventually this program could be made into its own website/search engine akin to google scholar or an AI program to interpret papers/write meta-papers.</a:t>
            </a:r>
          </a:p>
        </p:txBody>
      </p:sp>
      <p:sp>
        <p:nvSpPr>
          <p:cNvPr id="3" name="Text Placeholder 2">
            <a:extLst>
              <a:ext uri="{FF2B5EF4-FFF2-40B4-BE49-F238E27FC236}">
                <a16:creationId xmlns:a16="http://schemas.microsoft.com/office/drawing/2014/main" id="{2DE25FB6-E7A5-9676-97AB-9089EED29D5B}"/>
              </a:ext>
            </a:extLst>
          </p:cNvPr>
          <p:cNvSpPr>
            <a:spLocks noGrp="1"/>
          </p:cNvSpPr>
          <p:nvPr>
            <p:ph type="body" sz="quarter" idx="11"/>
          </p:nvPr>
        </p:nvSpPr>
        <p:spPr/>
        <p:txBody>
          <a:bodyPr/>
          <a:lstStyle/>
          <a:p>
            <a:r>
              <a:rPr lang="en-US" dirty="0"/>
              <a:t>Introduction</a:t>
            </a:r>
          </a:p>
        </p:txBody>
      </p:sp>
      <p:sp>
        <p:nvSpPr>
          <p:cNvPr id="4" name="Text Placeholder 3">
            <a:extLst>
              <a:ext uri="{FF2B5EF4-FFF2-40B4-BE49-F238E27FC236}">
                <a16:creationId xmlns:a16="http://schemas.microsoft.com/office/drawing/2014/main" id="{DF14BF24-1F53-C249-9630-EF5321B57AF7}"/>
              </a:ext>
            </a:extLst>
          </p:cNvPr>
          <p:cNvSpPr>
            <a:spLocks noGrp="1"/>
          </p:cNvSpPr>
          <p:nvPr>
            <p:ph type="body" sz="quarter" idx="20"/>
          </p:nvPr>
        </p:nvSpPr>
        <p:spPr/>
        <p:txBody>
          <a:bodyPr/>
          <a:lstStyle/>
          <a:p>
            <a:r>
              <a:rPr lang="en-US" dirty="0"/>
              <a:t>Data structures </a:t>
            </a:r>
          </a:p>
        </p:txBody>
      </p:sp>
      <p:sp>
        <p:nvSpPr>
          <p:cNvPr id="5" name="Text Placeholder 4">
            <a:extLst>
              <a:ext uri="{FF2B5EF4-FFF2-40B4-BE49-F238E27FC236}">
                <a16:creationId xmlns:a16="http://schemas.microsoft.com/office/drawing/2014/main" id="{1E123F7D-C6A3-929B-2233-D7260760DAFA}"/>
              </a:ext>
            </a:extLst>
          </p:cNvPr>
          <p:cNvSpPr>
            <a:spLocks noGrp="1"/>
          </p:cNvSpPr>
          <p:nvPr>
            <p:ph type="body" sz="quarter" idx="25"/>
          </p:nvPr>
        </p:nvSpPr>
        <p:spPr/>
        <p:txBody>
          <a:bodyPr/>
          <a:lstStyle/>
          <a:p>
            <a:r>
              <a:rPr lang="en-US" dirty="0"/>
              <a:t>Conclusion</a:t>
            </a:r>
          </a:p>
        </p:txBody>
      </p:sp>
      <p:sp>
        <p:nvSpPr>
          <p:cNvPr id="6" name="Text Placeholder 5">
            <a:extLst>
              <a:ext uri="{FF2B5EF4-FFF2-40B4-BE49-F238E27FC236}">
                <a16:creationId xmlns:a16="http://schemas.microsoft.com/office/drawing/2014/main" id="{4E7234D5-5BE5-2117-9309-5FC24CEAF7B5}"/>
              </a:ext>
            </a:extLst>
          </p:cNvPr>
          <p:cNvSpPr>
            <a:spLocks noGrp="1"/>
          </p:cNvSpPr>
          <p:nvPr>
            <p:ph type="body" sz="quarter" idx="26"/>
          </p:nvPr>
        </p:nvSpPr>
        <p:spPr>
          <a:xfrm>
            <a:off x="10846594" y="5365571"/>
            <a:ext cx="10093752" cy="935178"/>
          </a:xfrm>
        </p:spPr>
        <p:txBody>
          <a:bodyPr/>
          <a:lstStyle/>
          <a:p>
            <a:r>
              <a:rPr lang="en-US" dirty="0"/>
              <a:t>From working on this Project I have learnt how I can implement my already developed skills in destructions &amp; algorithms. I believe that this as</a:t>
            </a:r>
          </a:p>
        </p:txBody>
      </p:sp>
      <p:sp>
        <p:nvSpPr>
          <p:cNvPr id="7" name="Text Placeholder 6">
            <a:extLst>
              <a:ext uri="{FF2B5EF4-FFF2-40B4-BE49-F238E27FC236}">
                <a16:creationId xmlns:a16="http://schemas.microsoft.com/office/drawing/2014/main" id="{CD47D32C-30ED-7E1C-D8CC-A9A48276B0BB}"/>
              </a:ext>
            </a:extLst>
          </p:cNvPr>
          <p:cNvSpPr>
            <a:spLocks noGrp="1"/>
          </p:cNvSpPr>
          <p:nvPr>
            <p:ph type="body" sz="quarter" idx="27"/>
          </p:nvPr>
        </p:nvSpPr>
        <p:spPr/>
        <p:txBody>
          <a:bodyPr/>
          <a:lstStyle/>
          <a:p>
            <a:r>
              <a:rPr lang="en-US" dirty="0" err="1"/>
              <a:t>Methodolog</a:t>
            </a:r>
            <a:r>
              <a:rPr lang="en-US" dirty="0"/>
              <a:t> &amp; Results </a:t>
            </a:r>
          </a:p>
        </p:txBody>
      </p:sp>
      <p:sp>
        <p:nvSpPr>
          <p:cNvPr id="8" name="Text Placeholder 7">
            <a:extLst>
              <a:ext uri="{FF2B5EF4-FFF2-40B4-BE49-F238E27FC236}">
                <a16:creationId xmlns:a16="http://schemas.microsoft.com/office/drawing/2014/main" id="{2F73BB19-5155-13BF-CC65-3AFBD0943FF4}"/>
              </a:ext>
            </a:extLst>
          </p:cNvPr>
          <p:cNvSpPr>
            <a:spLocks noGrp="1"/>
          </p:cNvSpPr>
          <p:nvPr>
            <p:ph type="body" sz="quarter" idx="28"/>
          </p:nvPr>
        </p:nvSpPr>
        <p:spPr>
          <a:xfrm>
            <a:off x="10842726" y="13648379"/>
            <a:ext cx="10094847" cy="1673842"/>
          </a:xfrm>
        </p:spPr>
        <p:txBody>
          <a:bodyPr/>
          <a:lstStyle/>
          <a:p>
            <a:r>
              <a:rPr lang="en-US" dirty="0">
                <a:hlinkClick r:id="rId2"/>
              </a:rPr>
              <a:t>https://www.geeksforgeeks.org/c/c-program-for-binary-search-tree/</a:t>
            </a:r>
            <a:r>
              <a:rPr lang="en-US" dirty="0"/>
              <a:t> </a:t>
            </a:r>
            <a:br>
              <a:rPr lang="en-US" dirty="0"/>
            </a:br>
            <a:r>
              <a:rPr lang="en-US" dirty="0">
                <a:hlinkClick r:id="rId3"/>
              </a:rPr>
              <a:t>https://www.geeksforgeeks.org/dsa/hash-table-data-structure/</a:t>
            </a:r>
            <a:endParaRPr lang="en-US" dirty="0"/>
          </a:p>
          <a:p>
            <a:r>
              <a:rPr lang="en-US" dirty="0">
                <a:hlinkClick r:id="rId4"/>
              </a:rPr>
              <a:t>https://www.youtube.com/watch?v=2Ti5yvumFTU&amp;t=354s</a:t>
            </a:r>
            <a:endParaRPr lang="en-US" dirty="0"/>
          </a:p>
          <a:p>
            <a:r>
              <a:rPr lang="en-US" dirty="0"/>
              <a:t>KIT 205 &amp; 107 Tutorials / Study</a:t>
            </a:r>
          </a:p>
        </p:txBody>
      </p:sp>
      <p:sp>
        <p:nvSpPr>
          <p:cNvPr id="9" name="Text Placeholder 8">
            <a:extLst>
              <a:ext uri="{FF2B5EF4-FFF2-40B4-BE49-F238E27FC236}">
                <a16:creationId xmlns:a16="http://schemas.microsoft.com/office/drawing/2014/main" id="{0475E82C-F0BE-3ECD-40BB-F99894B0903F}"/>
              </a:ext>
            </a:extLst>
          </p:cNvPr>
          <p:cNvSpPr>
            <a:spLocks noGrp="1"/>
          </p:cNvSpPr>
          <p:nvPr>
            <p:ph type="body" sz="quarter" idx="29"/>
          </p:nvPr>
        </p:nvSpPr>
        <p:spPr/>
        <p:txBody>
          <a:bodyPr/>
          <a:lstStyle/>
          <a:p>
            <a:endParaRPr lang="en-US"/>
          </a:p>
        </p:txBody>
      </p:sp>
      <p:sp>
        <p:nvSpPr>
          <p:cNvPr id="10" name="Text Placeholder 9">
            <a:extLst>
              <a:ext uri="{FF2B5EF4-FFF2-40B4-BE49-F238E27FC236}">
                <a16:creationId xmlns:a16="http://schemas.microsoft.com/office/drawing/2014/main" id="{F5F12308-86F6-2C88-DAF4-D342B376F4F1}"/>
              </a:ext>
            </a:extLst>
          </p:cNvPr>
          <p:cNvSpPr>
            <a:spLocks noGrp="1"/>
          </p:cNvSpPr>
          <p:nvPr>
            <p:ph type="body" sz="quarter" idx="30"/>
          </p:nvPr>
        </p:nvSpPr>
        <p:spPr>
          <a:xfrm>
            <a:off x="10846595" y="24192709"/>
            <a:ext cx="10090978" cy="2043174"/>
          </a:xfrm>
        </p:spPr>
        <p:txBody>
          <a:bodyPr/>
          <a:lstStyle/>
          <a:p>
            <a:r>
              <a:rPr lang="en-US" dirty="0">
                <a:hlinkClick r:id="rId2"/>
              </a:rPr>
              <a:t>https://www.geeksforgeeks.org/c/c-program-for-binary-search-tree/</a:t>
            </a:r>
            <a:r>
              <a:rPr lang="en-US" dirty="0"/>
              <a:t> </a:t>
            </a:r>
            <a:br>
              <a:rPr lang="en-US" dirty="0"/>
            </a:br>
            <a:r>
              <a:rPr lang="en-US" dirty="0">
                <a:hlinkClick r:id="rId3"/>
              </a:rPr>
              <a:t>https://www.geeksforgeeks.org/dsa/hash-table-data-structure/</a:t>
            </a:r>
            <a:endParaRPr lang="en-US" dirty="0"/>
          </a:p>
          <a:p>
            <a:r>
              <a:rPr lang="en-US" dirty="0">
                <a:hlinkClick r:id="rId4"/>
              </a:rPr>
              <a:t>https://www.youtube.com/watch?v=2Ti5yvumFTU&amp;t=354s</a:t>
            </a:r>
            <a:endParaRPr lang="en-US" dirty="0"/>
          </a:p>
          <a:p>
            <a:r>
              <a:rPr lang="en-US" dirty="0"/>
              <a:t>KIT 205 &amp; 107 Tutorials / Study</a:t>
            </a:r>
          </a:p>
          <a:p>
            <a:endParaRPr lang="en-US" dirty="0"/>
          </a:p>
        </p:txBody>
      </p:sp>
      <p:sp>
        <p:nvSpPr>
          <p:cNvPr id="11" name="Text Placeholder 10">
            <a:extLst>
              <a:ext uri="{FF2B5EF4-FFF2-40B4-BE49-F238E27FC236}">
                <a16:creationId xmlns:a16="http://schemas.microsoft.com/office/drawing/2014/main" id="{801D0B66-A56D-DC4D-3B75-1F8450BF2286}"/>
              </a:ext>
            </a:extLst>
          </p:cNvPr>
          <p:cNvSpPr>
            <a:spLocks noGrp="1"/>
          </p:cNvSpPr>
          <p:nvPr>
            <p:ph type="body" sz="quarter" idx="96"/>
          </p:nvPr>
        </p:nvSpPr>
        <p:spPr>
          <a:xfrm>
            <a:off x="440616" y="13633726"/>
            <a:ext cx="10102728" cy="3458946"/>
          </a:xfrm>
        </p:spPr>
        <p:txBody>
          <a:bodyPr/>
          <a:lstStyle/>
          <a:p>
            <a:r>
              <a:rPr lang="en-US" dirty="0"/>
              <a:t>For the first Project 1 I have chosen to implement a linked list of binary search trees and for Project 2 I have chosen to implement a </a:t>
            </a:r>
            <a:r>
              <a:rPr lang="en-US" dirty="0" err="1"/>
              <a:t>hashtable</a:t>
            </a:r>
            <a:r>
              <a:rPr lang="en-US" dirty="0"/>
              <a:t> of binary search trees </a:t>
            </a:r>
          </a:p>
          <a:p>
            <a:endParaRPr lang="en-US" dirty="0"/>
          </a:p>
          <a:p>
            <a:r>
              <a:rPr lang="en-US" dirty="0"/>
              <a:t>For the chosen project my program will require a dynamic size, easy insertion of data, a simple implementation of functions, and an easily understandable architecture </a:t>
            </a:r>
          </a:p>
          <a:p>
            <a:endParaRPr lang="en-US" dirty="0"/>
          </a:p>
          <a:p>
            <a:r>
              <a:rPr lang="en-US" dirty="0"/>
              <a:t>I chose to use linked lists because of their sequential storage, simple traversal </a:t>
            </a:r>
          </a:p>
          <a:p>
            <a:endParaRPr lang="en-US" dirty="0"/>
          </a:p>
          <a:p>
            <a:r>
              <a:rPr lang="en-US" dirty="0"/>
              <a:t>I chose BST to </a:t>
            </a:r>
            <a:r>
              <a:rPr lang="en-US" dirty="0" err="1"/>
              <a:t>br</a:t>
            </a:r>
            <a:r>
              <a:rPr lang="en-US" dirty="0"/>
              <a:t> </a:t>
            </a:r>
          </a:p>
        </p:txBody>
      </p:sp>
      <p:sp>
        <p:nvSpPr>
          <p:cNvPr id="12" name="Text Placeholder 11">
            <a:extLst>
              <a:ext uri="{FF2B5EF4-FFF2-40B4-BE49-F238E27FC236}">
                <a16:creationId xmlns:a16="http://schemas.microsoft.com/office/drawing/2014/main" id="{96F2156E-7FBF-C26C-D136-EC5E1643EBC1}"/>
              </a:ext>
            </a:extLst>
          </p:cNvPr>
          <p:cNvSpPr>
            <a:spLocks noGrp="1"/>
          </p:cNvSpPr>
          <p:nvPr>
            <p:ph type="body" sz="quarter" idx="150"/>
          </p:nvPr>
        </p:nvSpPr>
        <p:spPr/>
        <p:txBody>
          <a:bodyPr/>
          <a:lstStyle/>
          <a:p>
            <a:r>
              <a:rPr lang="en-AU" u="sng">
                <a:hlinkClick r:id="rId5"/>
              </a:rPr>
              <a:t>https://github.com/Ben-Dolliver/KIT205-618797</a:t>
            </a:r>
            <a:r>
              <a:rPr lang="en-AU"/>
              <a:t> </a:t>
            </a:r>
            <a:endParaRPr lang="en-AU" dirty="0"/>
          </a:p>
        </p:txBody>
      </p:sp>
      <p:sp>
        <p:nvSpPr>
          <p:cNvPr id="13" name="Text Placeholder 12">
            <a:extLst>
              <a:ext uri="{FF2B5EF4-FFF2-40B4-BE49-F238E27FC236}">
                <a16:creationId xmlns:a16="http://schemas.microsoft.com/office/drawing/2014/main" id="{045E9635-3F3F-20C4-5038-BAF6F4FA9E33}"/>
              </a:ext>
            </a:extLst>
          </p:cNvPr>
          <p:cNvSpPr>
            <a:spLocks noGrp="1"/>
          </p:cNvSpPr>
          <p:nvPr>
            <p:ph type="body" sz="quarter" idx="151"/>
          </p:nvPr>
        </p:nvSpPr>
        <p:spPr>
          <a:xfrm>
            <a:off x="2890078" y="2235565"/>
            <a:ext cx="15608232" cy="2391240"/>
          </a:xfrm>
        </p:spPr>
        <p:txBody>
          <a:bodyPr/>
          <a:lstStyle/>
          <a:p>
            <a:r>
              <a:rPr lang="en-US" dirty="0"/>
              <a:t>Ben Dolliver #618797</a:t>
            </a:r>
          </a:p>
          <a:p>
            <a:endParaRPr lang="en-US" dirty="0"/>
          </a:p>
        </p:txBody>
      </p:sp>
      <p:sp>
        <p:nvSpPr>
          <p:cNvPr id="14" name="Text Placeholder 13">
            <a:extLst>
              <a:ext uri="{FF2B5EF4-FFF2-40B4-BE49-F238E27FC236}">
                <a16:creationId xmlns:a16="http://schemas.microsoft.com/office/drawing/2014/main" id="{0A116D7B-56F6-60C4-D1DD-29E139CEF5A8}"/>
              </a:ext>
            </a:extLst>
          </p:cNvPr>
          <p:cNvSpPr>
            <a:spLocks noGrp="1"/>
          </p:cNvSpPr>
          <p:nvPr>
            <p:ph type="body" sz="quarter" idx="153"/>
          </p:nvPr>
        </p:nvSpPr>
        <p:spPr>
          <a:xfrm>
            <a:off x="2890078" y="348658"/>
            <a:ext cx="15608232" cy="1286322"/>
          </a:xfrm>
        </p:spPr>
        <p:txBody>
          <a:bodyPr/>
          <a:lstStyle/>
          <a:p>
            <a:r>
              <a:rPr lang="en-US" dirty="0"/>
              <a:t>Assignment 1 – Database </a:t>
            </a:r>
          </a:p>
        </p:txBody>
      </p:sp>
    </p:spTree>
    <p:extLst>
      <p:ext uri="{BB962C8B-B14F-4D97-AF65-F5344CB8AC3E}">
        <p14:creationId xmlns:p14="http://schemas.microsoft.com/office/powerpoint/2010/main" val="1503921536"/>
      </p:ext>
    </p:extLst>
  </p:cSld>
  <p:clrMapOvr>
    <a:masterClrMapping/>
  </p:clrMapOvr>
</p:sld>
</file>

<file path=ppt/theme/theme1.xml><?xml version="1.0" encoding="utf-8"?>
<a:theme xmlns:a="http://schemas.openxmlformats.org/drawingml/2006/main" name="PosterPresentations.com-100CMx14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198</TotalTime>
  <Words>522</Words>
  <Application>Microsoft Office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PosterPresentations.com-100CMx140CM</vt:lpstr>
      <vt:lpstr>Without Quick Guides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Ben Dolliver</cp:lastModifiedBy>
  <cp:revision>33</cp:revision>
  <dcterms:created xsi:type="dcterms:W3CDTF">2012-02-10T00:21:22Z</dcterms:created>
  <dcterms:modified xsi:type="dcterms:W3CDTF">2026-05-17T13:00:37Z</dcterms:modified>
</cp:coreProperties>
</file>